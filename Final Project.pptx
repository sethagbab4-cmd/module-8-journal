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Urbanist Medium"/>
      <p:regular r:id="rId13"/>
      <p:bold r:id="rId14"/>
      <p:italic r:id="rId15"/>
      <p:boldItalic r:id="rId16"/>
    </p:embeddedFont>
    <p:embeddedFont>
      <p:font typeface="Urbanist SemiBold"/>
      <p:regular r:id="rId17"/>
      <p:bold r:id="rId18"/>
      <p:italic r:id="rId19"/>
      <p:boldItalic r:id="rId20"/>
    </p:embeddedFont>
    <p:embeddedFont>
      <p:font typeface="Urbanis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Italic.fntdata"/><Relationship Id="rId22" Type="http://schemas.openxmlformats.org/officeDocument/2006/relationships/font" Target="fonts/Urbanist-bold.fntdata"/><Relationship Id="rId21" Type="http://schemas.openxmlformats.org/officeDocument/2006/relationships/font" Target="fonts/Urbanist-regular.fntdata"/><Relationship Id="rId24" Type="http://schemas.openxmlformats.org/officeDocument/2006/relationships/font" Target="fonts/Urbanist-boldItalic.fntdata"/><Relationship Id="rId23" Type="http://schemas.openxmlformats.org/officeDocument/2006/relationships/font" Target="fonts/Urbanist-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UrbanistMedium-regular.fntdata"/><Relationship Id="rId12" Type="http://schemas.openxmlformats.org/officeDocument/2006/relationships/slide" Target="slides/slide6.xml"/><Relationship Id="rId15" Type="http://schemas.openxmlformats.org/officeDocument/2006/relationships/font" Target="fonts/UrbanistMedium-italic.fntdata"/><Relationship Id="rId14" Type="http://schemas.openxmlformats.org/officeDocument/2006/relationships/font" Target="fonts/UrbanistMedium-bold.fntdata"/><Relationship Id="rId17" Type="http://schemas.openxmlformats.org/officeDocument/2006/relationships/font" Target="fonts/UrbanistSemiBold-regular.fntdata"/><Relationship Id="rId16" Type="http://schemas.openxmlformats.org/officeDocument/2006/relationships/font" Target="fonts/UrbanistMedium-boldItalic.fntdata"/><Relationship Id="rId19" Type="http://schemas.openxmlformats.org/officeDocument/2006/relationships/font" Target="fonts/UrbanistSemiBold-italic.fntdata"/><Relationship Id="rId18" Type="http://schemas.openxmlformats.org/officeDocument/2006/relationships/font" Target="fonts/Urbanist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72a26b816e7750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72a26b816e7750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72a26b816e7750e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h72a26b816e7750e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h72a26b816e7750eb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h72a26b816e7750eb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h72a26b816e7750e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h72a26b816e7750e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h72a26b816e7750e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h72a26b816e7750e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72a26b816e7750eb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h72a26b816e7750eb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hyperlink" Target="https://www.bmc.com/blogs/agile-roles-responsibilities/" TargetMode="External"/><Relationship Id="rId4" Type="http://schemas.openxmlformats.org/officeDocument/2006/relationships/hyperlink" Target="https://www.wrike.com/agile-guide/agile-development-life-cycle/" TargetMode="External"/><Relationship Id="rId5" Type="http://schemas.openxmlformats.org/officeDocument/2006/relationships/hyperlink" Target="https://business.adobe.com/blog/basics/waterfall" TargetMode="External"/><Relationship Id="rId6" Type="http://schemas.openxmlformats.org/officeDocument/2006/relationships/hyperlink" Target="https://business.adobe.com/blog/basics/agile-vs-waterfall-project-managemen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Final Project</a:t>
            </a:r>
            <a:endParaRPr>
              <a:solidFill>
                <a:schemeClr val="lt1"/>
              </a:solidFill>
            </a:endParaRPr>
          </a:p>
        </p:txBody>
      </p:sp>
      <p:sp>
        <p:nvSpPr>
          <p:cNvPr id="483" name="Google Shape;483;p53"/>
          <p:cNvSpPr txBox="1"/>
          <p:nvPr>
            <p:ph idx="1" type="subTitle"/>
          </p:nvPr>
        </p:nvSpPr>
        <p:spPr>
          <a:xfrm>
            <a:off x="228600" y="173895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Seth Agbabiaka</a:t>
            </a:r>
            <a:endParaRPr>
              <a:solidFill>
                <a:schemeClr val="lt1"/>
              </a:solidFill>
              <a:latin typeface="Urbanist Medium"/>
              <a:ea typeface="Urbanist Medium"/>
              <a:cs typeface="Urbanist Medium"/>
              <a:sym typeface="Urbanist Medium"/>
            </a:endParaRPr>
          </a:p>
        </p:txBody>
      </p:sp>
      <p:sp>
        <p:nvSpPr>
          <p:cNvPr id="484" name="Google Shape;484;p5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4"/>
          <p:cNvSpPr/>
          <p:nvPr/>
        </p:nvSpPr>
        <p:spPr>
          <a:xfrm>
            <a:off x="534425" y="1672050"/>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0" name="Google Shape;490;p54"/>
          <p:cNvSpPr/>
          <p:nvPr/>
        </p:nvSpPr>
        <p:spPr>
          <a:xfrm>
            <a:off x="3229975" y="1672050"/>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1" name="Google Shape;491;p54"/>
          <p:cNvSpPr/>
          <p:nvPr/>
        </p:nvSpPr>
        <p:spPr>
          <a:xfrm>
            <a:off x="5925525" y="1672050"/>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2" name="Google Shape;492;p5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3" name="Google Shape;493;p5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494" name="Google Shape;494;p5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495" name="Google Shape;495;p54"/>
          <p:cNvSpPr txBox="1"/>
          <p:nvPr>
            <p:ph idx="5" type="subTitle"/>
          </p:nvPr>
        </p:nvSpPr>
        <p:spPr>
          <a:xfrm>
            <a:off x="704075" y="197202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Product Owner</a:t>
            </a:r>
            <a:endParaRPr/>
          </a:p>
        </p:txBody>
      </p:sp>
      <p:sp>
        <p:nvSpPr>
          <p:cNvPr id="496" name="Google Shape;496;p54"/>
          <p:cNvSpPr txBox="1"/>
          <p:nvPr>
            <p:ph idx="7" type="body"/>
          </p:nvPr>
        </p:nvSpPr>
        <p:spPr>
          <a:xfrm>
            <a:off x="704075" y="2293725"/>
            <a:ext cx="1761900" cy="20019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1200"/>
              <a:t>The Product Owner represents the stakeholder. They organize the product backlog, </a:t>
            </a:r>
            <a:r>
              <a:rPr lang="en" sz="1200"/>
              <a:t>clarify</a:t>
            </a:r>
            <a:r>
              <a:rPr lang="en" sz="1200"/>
              <a:t> customer </a:t>
            </a:r>
            <a:r>
              <a:rPr lang="en" sz="1200"/>
              <a:t>requirements</a:t>
            </a:r>
            <a:r>
              <a:rPr lang="en" sz="1200"/>
              <a:t>, and make sure </a:t>
            </a:r>
            <a:r>
              <a:rPr lang="en" sz="1200"/>
              <a:t>the</a:t>
            </a:r>
            <a:r>
              <a:rPr lang="en" sz="1200"/>
              <a:t> team can deliver a product based on these requirements.</a:t>
            </a:r>
            <a:endParaRPr sz="1200"/>
          </a:p>
        </p:txBody>
      </p:sp>
      <p:sp>
        <p:nvSpPr>
          <p:cNvPr id="497" name="Google Shape;497;p54"/>
          <p:cNvSpPr txBox="1"/>
          <p:nvPr>
            <p:ph idx="9" type="subTitle"/>
          </p:nvPr>
        </p:nvSpPr>
        <p:spPr>
          <a:xfrm>
            <a:off x="3399625" y="197203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Scrum Master</a:t>
            </a:r>
            <a:endParaRPr/>
          </a:p>
        </p:txBody>
      </p:sp>
      <p:sp>
        <p:nvSpPr>
          <p:cNvPr id="498" name="Google Shape;498;p54"/>
          <p:cNvSpPr txBox="1"/>
          <p:nvPr>
            <p:ph idx="14" type="body"/>
          </p:nvPr>
        </p:nvSpPr>
        <p:spPr>
          <a:xfrm>
            <a:off x="3409825" y="2282550"/>
            <a:ext cx="1741500" cy="19227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sz="1200"/>
              <a:t>The Scrum Master acts as a team lead and coordinates the team. They help identify and remove any blockers. They organize and facilitate scrum events. </a:t>
            </a:r>
            <a:endParaRPr sz="1200"/>
          </a:p>
        </p:txBody>
      </p:sp>
      <p:sp>
        <p:nvSpPr>
          <p:cNvPr id="499" name="Google Shape;499;p54"/>
          <p:cNvSpPr txBox="1"/>
          <p:nvPr>
            <p:ph idx="16" type="subTitle"/>
          </p:nvPr>
        </p:nvSpPr>
        <p:spPr>
          <a:xfrm>
            <a:off x="6095175" y="1972026"/>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Developer/Tester</a:t>
            </a:r>
            <a:endParaRPr/>
          </a:p>
        </p:txBody>
      </p:sp>
      <p:sp>
        <p:nvSpPr>
          <p:cNvPr id="500" name="Google Shape;500;p54"/>
          <p:cNvSpPr txBox="1"/>
          <p:nvPr>
            <p:ph idx="18" type="body"/>
          </p:nvPr>
        </p:nvSpPr>
        <p:spPr>
          <a:xfrm>
            <a:off x="6095175" y="2333325"/>
            <a:ext cx="1761900" cy="19227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sz="1200"/>
              <a:t>The members of the development team build and test the product. They have to estimate how much work is needed to meet the </a:t>
            </a:r>
            <a:r>
              <a:rPr lang="en" sz="1200"/>
              <a:t>requirements</a:t>
            </a:r>
            <a:r>
              <a:rPr lang="en" sz="1200"/>
              <a:t> given by the Product Owner, They have to verify that all the features function how they are supposed to.</a:t>
            </a:r>
            <a:endParaRPr sz="1200"/>
          </a:p>
        </p:txBody>
      </p:sp>
      <p:sp>
        <p:nvSpPr>
          <p:cNvPr id="501" name="Google Shape;501;p54"/>
          <p:cNvSpPr txBox="1"/>
          <p:nvPr/>
        </p:nvSpPr>
        <p:spPr>
          <a:xfrm>
            <a:off x="514350" y="305825"/>
            <a:ext cx="7937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lt1"/>
                </a:solidFill>
                <a:latin typeface="Urbanist"/>
                <a:ea typeface="Urbanist"/>
                <a:cs typeface="Urbanist"/>
                <a:sym typeface="Urbanist"/>
              </a:rPr>
              <a:t>Agile Roles</a:t>
            </a:r>
            <a:endParaRPr sz="35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5"/>
          <p:cNvSpPr/>
          <p:nvPr/>
        </p:nvSpPr>
        <p:spPr>
          <a:xfrm>
            <a:off x="228600" y="1583400"/>
            <a:ext cx="2926200" cy="14748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7" name="Google Shape;507;p55"/>
          <p:cNvSpPr/>
          <p:nvPr/>
        </p:nvSpPr>
        <p:spPr>
          <a:xfrm>
            <a:off x="3332025" y="1583400"/>
            <a:ext cx="2748600" cy="14748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8" name="Google Shape;508;p55"/>
          <p:cNvSpPr/>
          <p:nvPr/>
        </p:nvSpPr>
        <p:spPr>
          <a:xfrm>
            <a:off x="3332097" y="3337800"/>
            <a:ext cx="2748600" cy="13596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9" name="Google Shape;509;p55"/>
          <p:cNvSpPr/>
          <p:nvPr/>
        </p:nvSpPr>
        <p:spPr>
          <a:xfrm>
            <a:off x="217975" y="3301500"/>
            <a:ext cx="2926200" cy="13596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0" name="Google Shape;510;p5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11" name="Google Shape;511;p5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12" name="Google Shape;512;p55"/>
          <p:cNvSpPr txBox="1"/>
          <p:nvPr>
            <p:ph idx="19" type="title"/>
          </p:nvPr>
        </p:nvSpPr>
        <p:spPr>
          <a:xfrm>
            <a:off x="228600" y="613525"/>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Agile Phases</a:t>
            </a:r>
            <a:endParaRPr/>
          </a:p>
        </p:txBody>
      </p:sp>
      <p:sp>
        <p:nvSpPr>
          <p:cNvPr id="513" name="Google Shape;513;p55"/>
          <p:cNvSpPr txBox="1"/>
          <p:nvPr>
            <p:ph type="title"/>
          </p:nvPr>
        </p:nvSpPr>
        <p:spPr>
          <a:xfrm>
            <a:off x="337525" y="1748850"/>
            <a:ext cx="1862100" cy="293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Concept</a:t>
            </a:r>
            <a:endParaRPr/>
          </a:p>
        </p:txBody>
      </p:sp>
      <p:sp>
        <p:nvSpPr>
          <p:cNvPr id="514" name="Google Shape;514;p55"/>
          <p:cNvSpPr txBox="1"/>
          <p:nvPr>
            <p:ph idx="6" type="body"/>
          </p:nvPr>
        </p:nvSpPr>
        <p:spPr>
          <a:xfrm>
            <a:off x="355225" y="2041950"/>
            <a:ext cx="2700000" cy="9009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100"/>
              <a:t>The Product Owner determines the scope of the project and organize the product backlog. The team will discuss user needs what features are desired by the </a:t>
            </a:r>
            <a:r>
              <a:rPr lang="en" sz="1100"/>
              <a:t>customers</a:t>
            </a:r>
            <a:endParaRPr sz="1100"/>
          </a:p>
        </p:txBody>
      </p:sp>
      <p:sp>
        <p:nvSpPr>
          <p:cNvPr id="515" name="Google Shape;515;p55"/>
          <p:cNvSpPr txBox="1"/>
          <p:nvPr>
            <p:ph idx="7" type="title"/>
          </p:nvPr>
        </p:nvSpPr>
        <p:spPr>
          <a:xfrm>
            <a:off x="3451750" y="1748850"/>
            <a:ext cx="1862100" cy="293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Inception</a:t>
            </a:r>
            <a:endParaRPr/>
          </a:p>
        </p:txBody>
      </p:sp>
      <p:sp>
        <p:nvSpPr>
          <p:cNvPr id="516" name="Google Shape;516;p55"/>
          <p:cNvSpPr txBox="1"/>
          <p:nvPr>
            <p:ph idx="9" type="body"/>
          </p:nvPr>
        </p:nvSpPr>
        <p:spPr>
          <a:xfrm>
            <a:off x="3451750" y="2041950"/>
            <a:ext cx="2537700" cy="9729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t>After the concept is put together, the </a:t>
            </a:r>
            <a:r>
              <a:rPr lang="en" sz="1200"/>
              <a:t>development</a:t>
            </a:r>
            <a:r>
              <a:rPr lang="en" sz="1200"/>
              <a:t> team can begin the design process. They agree on </a:t>
            </a:r>
            <a:r>
              <a:rPr lang="en" sz="1200"/>
              <a:t>acceptance</a:t>
            </a:r>
            <a:r>
              <a:rPr lang="en" sz="1200"/>
              <a:t> criteria and draft the user interface</a:t>
            </a:r>
            <a:endParaRPr sz="1200"/>
          </a:p>
        </p:txBody>
      </p:sp>
      <p:sp>
        <p:nvSpPr>
          <p:cNvPr id="517" name="Google Shape;517;p55"/>
          <p:cNvSpPr txBox="1"/>
          <p:nvPr>
            <p:ph idx="13" type="title"/>
          </p:nvPr>
        </p:nvSpPr>
        <p:spPr>
          <a:xfrm>
            <a:off x="474775" y="3374575"/>
            <a:ext cx="1862100" cy="293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Test</a:t>
            </a:r>
            <a:endParaRPr/>
          </a:p>
        </p:txBody>
      </p:sp>
      <p:sp>
        <p:nvSpPr>
          <p:cNvPr id="518" name="Google Shape;518;p55"/>
          <p:cNvSpPr txBox="1"/>
          <p:nvPr>
            <p:ph idx="15" type="body"/>
          </p:nvPr>
        </p:nvSpPr>
        <p:spPr>
          <a:xfrm>
            <a:off x="341925" y="3667675"/>
            <a:ext cx="2657400" cy="1100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t>The product is tested to make sure the features </a:t>
            </a:r>
            <a:r>
              <a:rPr lang="en" sz="1200"/>
              <a:t>function</a:t>
            </a:r>
            <a:r>
              <a:rPr lang="en" sz="1200"/>
              <a:t> how they are supposed to and there are no bugs</a:t>
            </a:r>
            <a:endParaRPr sz="1200"/>
          </a:p>
        </p:txBody>
      </p:sp>
      <p:sp>
        <p:nvSpPr>
          <p:cNvPr id="519" name="Google Shape;519;p55"/>
          <p:cNvSpPr txBox="1"/>
          <p:nvPr>
            <p:ph idx="16" type="title"/>
          </p:nvPr>
        </p:nvSpPr>
        <p:spPr>
          <a:xfrm>
            <a:off x="3451750" y="3490775"/>
            <a:ext cx="1862100" cy="293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Release</a:t>
            </a:r>
            <a:endParaRPr/>
          </a:p>
        </p:txBody>
      </p:sp>
      <p:sp>
        <p:nvSpPr>
          <p:cNvPr id="520" name="Google Shape;520;p55"/>
          <p:cNvSpPr txBox="1"/>
          <p:nvPr>
            <p:ph idx="18" type="body"/>
          </p:nvPr>
        </p:nvSpPr>
        <p:spPr>
          <a:xfrm>
            <a:off x="3451750" y="3658650"/>
            <a:ext cx="2470800" cy="9009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t>Once all the features are tested and </a:t>
            </a:r>
            <a:r>
              <a:rPr lang="en" sz="1200"/>
              <a:t>verified</a:t>
            </a:r>
            <a:r>
              <a:rPr lang="en" sz="1200"/>
              <a:t>, the product is ready to be released to the customers. </a:t>
            </a:r>
            <a:endParaRPr sz="1200"/>
          </a:p>
        </p:txBody>
      </p:sp>
      <p:sp>
        <p:nvSpPr>
          <p:cNvPr id="521" name="Google Shape;521;p5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522" name="Google Shape;522;p55"/>
          <p:cNvSpPr/>
          <p:nvPr/>
        </p:nvSpPr>
        <p:spPr>
          <a:xfrm>
            <a:off x="6258400" y="1583400"/>
            <a:ext cx="2657400" cy="14748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3" name="Google Shape;523;p55"/>
          <p:cNvSpPr txBox="1"/>
          <p:nvPr/>
        </p:nvSpPr>
        <p:spPr>
          <a:xfrm>
            <a:off x="6366825" y="1583400"/>
            <a:ext cx="21012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Urbanist"/>
                <a:ea typeface="Urbanist"/>
                <a:cs typeface="Urbanist"/>
                <a:sym typeface="Urbanist"/>
              </a:rPr>
              <a:t>Iteration</a:t>
            </a:r>
            <a:endParaRPr sz="1800">
              <a:solidFill>
                <a:schemeClr val="accent3"/>
              </a:solidFill>
              <a:latin typeface="Urbanist"/>
              <a:ea typeface="Urbanist"/>
              <a:cs typeface="Urbanist"/>
              <a:sym typeface="Urbanist"/>
            </a:endParaRPr>
          </a:p>
        </p:txBody>
      </p:sp>
      <p:sp>
        <p:nvSpPr>
          <p:cNvPr id="524" name="Google Shape;524;p55"/>
          <p:cNvSpPr txBox="1"/>
          <p:nvPr/>
        </p:nvSpPr>
        <p:spPr>
          <a:xfrm>
            <a:off x="6258400" y="2013200"/>
            <a:ext cx="2657400" cy="9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The </a:t>
            </a:r>
            <a:r>
              <a:rPr lang="en" sz="1200">
                <a:solidFill>
                  <a:schemeClr val="lt1"/>
                </a:solidFill>
                <a:latin typeface="Urbanist"/>
                <a:ea typeface="Urbanist"/>
                <a:cs typeface="Urbanist"/>
                <a:sym typeface="Urbanist"/>
              </a:rPr>
              <a:t>developers</a:t>
            </a:r>
            <a:r>
              <a:rPr lang="en" sz="1200">
                <a:solidFill>
                  <a:schemeClr val="lt1"/>
                </a:solidFill>
                <a:latin typeface="Urbanist"/>
                <a:ea typeface="Urbanist"/>
                <a:cs typeface="Urbanist"/>
                <a:sym typeface="Urbanist"/>
              </a:rPr>
              <a:t> will look at the requirements and customer feedback to begin coding the design</a:t>
            </a:r>
            <a:endParaRPr sz="1200">
              <a:solidFill>
                <a:schemeClr val="lt1"/>
              </a:solidFill>
              <a:latin typeface="Urbanist"/>
              <a:ea typeface="Urbanist"/>
              <a:cs typeface="Urbanist"/>
              <a:sym typeface="Urbanist"/>
            </a:endParaRPr>
          </a:p>
        </p:txBody>
      </p:sp>
      <p:sp>
        <p:nvSpPr>
          <p:cNvPr id="525" name="Google Shape;525;p55"/>
          <p:cNvSpPr/>
          <p:nvPr/>
        </p:nvSpPr>
        <p:spPr>
          <a:xfrm>
            <a:off x="6258397" y="3243900"/>
            <a:ext cx="2657400" cy="14748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6" name="Google Shape;526;p55"/>
          <p:cNvSpPr txBox="1"/>
          <p:nvPr>
            <p:ph idx="16" type="title"/>
          </p:nvPr>
        </p:nvSpPr>
        <p:spPr>
          <a:xfrm>
            <a:off x="6413475" y="3490775"/>
            <a:ext cx="2177700" cy="2931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Maintain</a:t>
            </a:r>
            <a:endParaRPr/>
          </a:p>
        </p:txBody>
      </p:sp>
      <p:sp>
        <p:nvSpPr>
          <p:cNvPr id="527" name="Google Shape;527;p55"/>
          <p:cNvSpPr txBox="1"/>
          <p:nvPr/>
        </p:nvSpPr>
        <p:spPr>
          <a:xfrm>
            <a:off x="6413475" y="3719850"/>
            <a:ext cx="2294700" cy="9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The team has to make sure to </a:t>
            </a:r>
            <a:r>
              <a:rPr lang="en" sz="1200">
                <a:solidFill>
                  <a:schemeClr val="lt1"/>
                </a:solidFill>
                <a:latin typeface="Urbanist"/>
                <a:ea typeface="Urbanist"/>
                <a:cs typeface="Urbanist"/>
                <a:sym typeface="Urbanist"/>
              </a:rPr>
              <a:t>address</a:t>
            </a:r>
            <a:r>
              <a:rPr lang="en" sz="1200">
                <a:solidFill>
                  <a:schemeClr val="lt1"/>
                </a:solidFill>
                <a:latin typeface="Urbanist"/>
                <a:ea typeface="Urbanist"/>
                <a:cs typeface="Urbanist"/>
                <a:sym typeface="Urbanist"/>
              </a:rPr>
              <a:t> any bugs and customer feedback. They have to make sure the product runs smoothly</a:t>
            </a:r>
            <a:endParaRPr sz="12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luminous galaxy in space. " id="532" name="Google Shape;532;p56"/>
          <p:cNvPicPr preferRelativeResize="0"/>
          <p:nvPr/>
        </p:nvPicPr>
        <p:blipFill rotWithShape="1">
          <a:blip r:embed="rId3">
            <a:alphaModFix amt="50000"/>
          </a:blip>
          <a:srcRect b="1961" l="0" r="0" t="6840"/>
          <a:stretch/>
        </p:blipFill>
        <p:spPr>
          <a:xfrm>
            <a:off x="0" y="-3250"/>
            <a:ext cx="9144003" cy="4686976"/>
          </a:xfrm>
          <a:prstGeom prst="rect">
            <a:avLst/>
          </a:prstGeom>
          <a:noFill/>
          <a:ln>
            <a:noFill/>
          </a:ln>
        </p:spPr>
      </p:pic>
      <p:sp>
        <p:nvSpPr>
          <p:cNvPr id="533" name="Google Shape;533;p56"/>
          <p:cNvSpPr txBox="1"/>
          <p:nvPr>
            <p:ph type="title"/>
          </p:nvPr>
        </p:nvSpPr>
        <p:spPr>
          <a:xfrm>
            <a:off x="160300" y="228600"/>
            <a:ext cx="8574600" cy="1114800"/>
          </a:xfrm>
          <a:prstGeom prst="rect">
            <a:avLst/>
          </a:prstGeom>
        </p:spPr>
        <p:txBody>
          <a:bodyPr anchorCtr="0" anchor="b" bIns="0" lIns="0" spcFirstLastPara="1" rIns="0" wrap="square" tIns="0">
            <a:noAutofit/>
          </a:bodyPr>
          <a:lstStyle/>
          <a:p>
            <a:pPr indent="0" lvl="0" marL="0" rtl="0" algn="l">
              <a:lnSpc>
                <a:spcPct val="85000"/>
              </a:lnSpc>
              <a:spcBef>
                <a:spcPts val="0"/>
              </a:spcBef>
              <a:spcAft>
                <a:spcPts val="0"/>
              </a:spcAft>
              <a:buNone/>
            </a:pPr>
            <a:r>
              <a:rPr lang="en"/>
              <a:t>Waterfall</a:t>
            </a:r>
            <a:endParaRPr/>
          </a:p>
        </p:txBody>
      </p:sp>
      <p:sp>
        <p:nvSpPr>
          <p:cNvPr id="534" name="Google Shape;534;p56"/>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35" name="Google Shape;535;p56"/>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36" name="Google Shape;536;p56"/>
          <p:cNvSpPr txBox="1"/>
          <p:nvPr>
            <p:ph idx="1" type="subTitle"/>
          </p:nvPr>
        </p:nvSpPr>
        <p:spPr>
          <a:xfrm>
            <a:off x="320625" y="1563824"/>
            <a:ext cx="7689900" cy="304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If we used Waterfall for the SNHU Travel project, the team would have to complete the project phase by phase. We would have to first get all the requirements together, then begin development. Testing would be done after the coding and development is complete. With the Top Destinations feature, it would have been more difficult and </a:t>
            </a:r>
            <a:r>
              <a:rPr lang="en"/>
              <a:t>time</a:t>
            </a:r>
            <a:r>
              <a:rPr lang="en"/>
              <a:t> consuming to fix. We may not have spotted the issue until the </a:t>
            </a:r>
            <a:r>
              <a:rPr lang="en"/>
              <a:t>testing</a:t>
            </a:r>
            <a:r>
              <a:rPr lang="en"/>
              <a:t> the phase. Waterfall would have provided a more structured plan, but </a:t>
            </a:r>
            <a:r>
              <a:rPr lang="en"/>
              <a:t>with</a:t>
            </a:r>
            <a:r>
              <a:rPr lang="en"/>
              <a:t> a project that expects a lot of changes, that would not have been as helpful.</a:t>
            </a:r>
            <a:endParaRPr/>
          </a:p>
        </p:txBody>
      </p:sp>
      <p:sp>
        <p:nvSpPr>
          <p:cNvPr id="537" name="Google Shape;537;p56"/>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7"/>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43" name="Google Shape;543;p57"/>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44" name="Google Shape;544;p57"/>
          <p:cNvSpPr txBox="1"/>
          <p:nvPr>
            <p:ph type="title"/>
          </p:nvPr>
        </p:nvSpPr>
        <p:spPr>
          <a:xfrm>
            <a:off x="228600" y="290450"/>
            <a:ext cx="82230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Waterfall vs Agile</a:t>
            </a:r>
            <a:endParaRPr/>
          </a:p>
        </p:txBody>
      </p:sp>
      <p:grpSp>
        <p:nvGrpSpPr>
          <p:cNvPr id="545" name="Google Shape;545;p57"/>
          <p:cNvGrpSpPr/>
          <p:nvPr/>
        </p:nvGrpSpPr>
        <p:grpSpPr>
          <a:xfrm rot="5400000">
            <a:off x="4525063" y="3129591"/>
            <a:ext cx="228589" cy="228622"/>
            <a:chOff x="1688332" y="4135245"/>
            <a:chExt cx="338700" cy="338700"/>
          </a:xfrm>
        </p:grpSpPr>
        <p:sp>
          <p:nvSpPr>
            <p:cNvPr id="546" name="Google Shape;546;p57"/>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47" name="Google Shape;547;p57"/>
            <p:cNvGrpSpPr/>
            <p:nvPr/>
          </p:nvGrpSpPr>
          <p:grpSpPr>
            <a:xfrm rot="-5400000">
              <a:off x="1787014" y="4262191"/>
              <a:ext cx="169598" cy="84809"/>
              <a:chOff x="498725" y="2069800"/>
              <a:chExt cx="205200" cy="102600"/>
            </a:xfrm>
          </p:grpSpPr>
          <p:cxnSp>
            <p:nvCxnSpPr>
              <p:cNvPr id="548" name="Google Shape;548;p57"/>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49" name="Google Shape;549;p57"/>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550" name="Google Shape;550;p57"/>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551" name="Google Shape;551;p57"/>
          <p:cNvSpPr txBox="1"/>
          <p:nvPr/>
        </p:nvSpPr>
        <p:spPr>
          <a:xfrm>
            <a:off x="393750" y="1095150"/>
            <a:ext cx="8158200" cy="3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When </a:t>
            </a:r>
            <a:r>
              <a:rPr lang="en" sz="1200">
                <a:solidFill>
                  <a:schemeClr val="lt1"/>
                </a:solidFill>
                <a:latin typeface="Urbanist"/>
                <a:ea typeface="Urbanist"/>
                <a:cs typeface="Urbanist"/>
                <a:sym typeface="Urbanist"/>
              </a:rPr>
              <a:t>choosing</a:t>
            </a:r>
            <a:r>
              <a:rPr lang="en" sz="1200">
                <a:solidFill>
                  <a:schemeClr val="lt1"/>
                </a:solidFill>
                <a:latin typeface="Urbanist"/>
                <a:ea typeface="Urbanist"/>
                <a:cs typeface="Urbanist"/>
                <a:sym typeface="Urbanist"/>
              </a:rPr>
              <a:t> between Agile and Waterfall, it is important to consider how the process of the project. The way the project is planned, developed, and tested should be taken into consideration. For the Waterfall </a:t>
            </a:r>
            <a:r>
              <a:rPr lang="en" sz="1200">
                <a:solidFill>
                  <a:schemeClr val="lt1"/>
                </a:solidFill>
                <a:latin typeface="Urbanist"/>
                <a:ea typeface="Urbanist"/>
                <a:cs typeface="Urbanist"/>
                <a:sym typeface="Urbanist"/>
              </a:rPr>
              <a:t>approach</a:t>
            </a:r>
            <a:r>
              <a:rPr lang="en" sz="1200">
                <a:solidFill>
                  <a:schemeClr val="lt1"/>
                </a:solidFill>
                <a:latin typeface="Urbanist"/>
                <a:ea typeface="Urbanist"/>
                <a:cs typeface="Urbanist"/>
                <a:sym typeface="Urbanist"/>
              </a:rPr>
              <a:t>, each phase must be completed before moving on to the next. This makes it </a:t>
            </a:r>
            <a:r>
              <a:rPr lang="en" sz="1200">
                <a:solidFill>
                  <a:schemeClr val="lt1"/>
                </a:solidFill>
                <a:latin typeface="Urbanist"/>
                <a:ea typeface="Urbanist"/>
                <a:cs typeface="Urbanist"/>
                <a:sym typeface="Urbanist"/>
              </a:rPr>
              <a:t>difficult to implement any changes if they come up. It's also harder to fix bugs that late in  the process. Agile breaks the project down into smaller pieces that are easier to manage. With the SNHU Travel project, we got feedback from the customers about the Top Destinations feature. With Waterfall, the issues may not have been spotted till the testing phase which would have made it harder to correct by then. Using Agile allowed for the team to adjust based on the feedback. Waterfall works better for projects that are clear and simple. Agile is better for projects that are susceptible to change and rely heavily on customer feedback</a:t>
            </a:r>
            <a:endParaRPr sz="12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57" name="Google Shape;557;p5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58" name="Google Shape;558;p58"/>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References</a:t>
            </a:r>
            <a:endParaRPr>
              <a:solidFill>
                <a:schemeClr val="lt1"/>
              </a:solidFill>
            </a:endParaRPr>
          </a:p>
        </p:txBody>
      </p:sp>
      <p:sp>
        <p:nvSpPr>
          <p:cNvPr id="559" name="Google Shape;559;p58"/>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5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61" name="Google Shape;561;p58"/>
          <p:cNvSpPr txBox="1"/>
          <p:nvPr/>
        </p:nvSpPr>
        <p:spPr>
          <a:xfrm>
            <a:off x="572750" y="1179175"/>
            <a:ext cx="77940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BMC Software. (2025, July 18). Agile roles &amp; responsibilities.</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u="sng">
                <a:solidFill>
                  <a:schemeClr val="accent3"/>
                </a:solidFill>
                <a:latin typeface="Urbanist"/>
                <a:ea typeface="Urbanist"/>
                <a:cs typeface="Urbanist"/>
                <a:sym typeface="Urbanist"/>
                <a:hlinkClick r:id="rId3">
                  <a:extLst>
                    <a:ext uri="{A12FA001-AC4F-418D-AE19-62706E023703}">
                      <ahyp:hlinkClr val="tx"/>
                    </a:ext>
                  </a:extLst>
                </a:hlinkClick>
              </a:rPr>
              <a:t>https://www.bmc.com/blogs/agile-roles-responsibilities/</a:t>
            </a:r>
            <a:endParaRPr sz="1200" u="sng">
              <a:solidFill>
                <a:schemeClr val="accent3"/>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Zhezherau, Alex. (2026, July 13). Agile development life cycle.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u="sng">
                <a:solidFill>
                  <a:schemeClr val="accent3"/>
                </a:solidFill>
                <a:latin typeface="Urbanist"/>
                <a:ea typeface="Urbanist"/>
                <a:cs typeface="Urbanist"/>
                <a:sym typeface="Urbanist"/>
                <a:hlinkClick r:id="rId4">
                  <a:extLst>
                    <a:ext uri="{A12FA001-AC4F-418D-AE19-62706E023703}">
                      <ahyp:hlinkClr val="tx"/>
                    </a:ext>
                  </a:extLst>
                </a:hlinkClick>
              </a:rPr>
              <a:t>https://www.wrike.com/agile-guide/agile-development-life-cycle/</a:t>
            </a:r>
            <a:endParaRPr sz="1200">
              <a:solidFill>
                <a:schemeClr val="accent3"/>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Adobe for Business Team. (2025, May 23). What is the Waterfall methodology? Adobe.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u="sng">
                <a:solidFill>
                  <a:schemeClr val="accent3"/>
                </a:solidFill>
                <a:latin typeface="Urbanist"/>
                <a:ea typeface="Urbanist"/>
                <a:cs typeface="Urbanist"/>
                <a:sym typeface="Urbanist"/>
                <a:hlinkClick r:id="rId5">
                  <a:extLst>
                    <a:ext uri="{A12FA001-AC4F-418D-AE19-62706E023703}">
                      <ahyp:hlinkClr val="tx"/>
                    </a:ext>
                  </a:extLst>
                </a:hlinkClick>
              </a:rPr>
              <a:t>https://business.adobe.com/blog/basics/waterfall</a:t>
            </a:r>
            <a:endParaRPr sz="1200">
              <a:solidFill>
                <a:schemeClr val="accent3"/>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Adobe for Business Team. (2025, October 14). Agile vs. Waterfall methodology in project management. Adobe.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u="sng">
                <a:solidFill>
                  <a:schemeClr val="accent3"/>
                </a:solidFill>
                <a:latin typeface="Urbanist"/>
                <a:ea typeface="Urbanist"/>
                <a:cs typeface="Urbanist"/>
                <a:sym typeface="Urbanist"/>
                <a:hlinkClick r:id="rId6">
                  <a:extLst>
                    <a:ext uri="{A12FA001-AC4F-418D-AE19-62706E023703}">
                      <ahyp:hlinkClr val="tx"/>
                    </a:ext>
                  </a:extLst>
                </a:hlinkClick>
              </a:rPr>
              <a:t>https://business.adobe.com/blog/basics/agile-vs-waterfall-project-management</a:t>
            </a:r>
            <a:endParaRPr sz="1200">
              <a:solidFill>
                <a:schemeClr val="accent3"/>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